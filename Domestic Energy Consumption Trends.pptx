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58"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65" d="100"/>
          <a:sy n="65" d="100"/>
        </p:scale>
        <p:origin x="28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yam Pervez" userId="b1c8edf4458abe79" providerId="LiveId" clId="{67872796-D07B-4782-BDCF-B52113D61FE6}"/>
    <pc:docChg chg="custSel modSld">
      <pc:chgData name="Maryam Pervez" userId="b1c8edf4458abe79" providerId="LiveId" clId="{67872796-D07B-4782-BDCF-B52113D61FE6}" dt="2026-03-22T07:36:17.103" v="33" actId="14100"/>
      <pc:docMkLst>
        <pc:docMk/>
      </pc:docMkLst>
      <pc:sldChg chg="addSp delSp modSp mod">
        <pc:chgData name="Maryam Pervez" userId="b1c8edf4458abe79" providerId="LiveId" clId="{67872796-D07B-4782-BDCF-B52113D61FE6}" dt="2026-03-22T07:36:17.103" v="33" actId="14100"/>
        <pc:sldMkLst>
          <pc:docMk/>
          <pc:sldMk cId="2678748597" sldId="264"/>
        </pc:sldMkLst>
        <pc:spChg chg="mod">
          <ac:chgData name="Maryam Pervez" userId="b1c8edf4458abe79" providerId="LiveId" clId="{67872796-D07B-4782-BDCF-B52113D61FE6}" dt="2026-03-22T07:29:58.765" v="26" actId="20577"/>
          <ac:spMkLst>
            <pc:docMk/>
            <pc:sldMk cId="2678748597" sldId="264"/>
            <ac:spMk id="3" creationId="{B5F97258-0BBC-F52F-5A1C-552AA3A2216C}"/>
          </ac:spMkLst>
        </pc:spChg>
        <pc:picChg chg="del">
          <ac:chgData name="Maryam Pervez" userId="b1c8edf4458abe79" providerId="LiveId" clId="{67872796-D07B-4782-BDCF-B52113D61FE6}" dt="2026-03-22T07:35:20.229" v="27" actId="478"/>
          <ac:picMkLst>
            <pc:docMk/>
            <pc:sldMk cId="2678748597" sldId="264"/>
            <ac:picMk id="4" creationId="{85BB985C-1C6F-8026-FE96-E437538D0B43}"/>
          </ac:picMkLst>
        </pc:picChg>
        <pc:picChg chg="add mod">
          <ac:chgData name="Maryam Pervez" userId="b1c8edf4458abe79" providerId="LiveId" clId="{67872796-D07B-4782-BDCF-B52113D61FE6}" dt="2026-03-22T07:36:17.103" v="33" actId="14100"/>
          <ac:picMkLst>
            <pc:docMk/>
            <pc:sldMk cId="2678748597" sldId="264"/>
            <ac:picMk id="6" creationId="{FC879753-1BB3-9E3D-A443-4D6D01874626}"/>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728B56-CAD8-4B5C-AE5D-10B53043A94E}"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3A84CD9C-3318-495D-B2A2-FD937C30A489}">
      <dgm:prSet/>
      <dgm:spPr/>
      <dgm:t>
        <a:bodyPr/>
        <a:lstStyle/>
        <a:p>
          <a:pPr rtl="0">
            <a:lnSpc>
              <a:spcPct val="100000"/>
            </a:lnSpc>
            <a:defRPr cap="all"/>
          </a:pPr>
          <a:r>
            <a:rPr lang="en-US" dirty="0"/>
            <a:t>This analysis is purely based on the </a:t>
          </a:r>
          <a:r>
            <a:rPr lang="en-US" dirty="0">
              <a:latin typeface="Aptos Display" panose="020F0302020204030204"/>
            </a:rPr>
            <a:t>open dataset provided.</a:t>
          </a:r>
          <a:endParaRPr lang="en-US" dirty="0"/>
        </a:p>
      </dgm:t>
    </dgm:pt>
    <dgm:pt modelId="{55D188F4-EAF4-444D-B5C7-D0C253F27BBC}" type="parTrans" cxnId="{AA92A145-92F2-4A92-9B2C-495A79CEA659}">
      <dgm:prSet/>
      <dgm:spPr/>
      <dgm:t>
        <a:bodyPr/>
        <a:lstStyle/>
        <a:p>
          <a:endParaRPr lang="en-US"/>
        </a:p>
      </dgm:t>
    </dgm:pt>
    <dgm:pt modelId="{ADE4DA08-FDF4-47EB-B413-49C8E0566206}" type="sibTrans" cxnId="{AA92A145-92F2-4A92-9B2C-495A79CEA659}">
      <dgm:prSet/>
      <dgm:spPr/>
      <dgm:t>
        <a:bodyPr/>
        <a:lstStyle/>
        <a:p>
          <a:endParaRPr lang="en-US"/>
        </a:p>
      </dgm:t>
    </dgm:pt>
    <dgm:pt modelId="{F8CF21F7-C1F1-410E-BDDC-20D8A890DD25}">
      <dgm:prSet/>
      <dgm:spPr/>
      <dgm:t>
        <a:bodyPr/>
        <a:lstStyle/>
        <a:p>
          <a:pPr>
            <a:lnSpc>
              <a:spcPct val="100000"/>
            </a:lnSpc>
            <a:defRPr cap="all"/>
          </a:pPr>
          <a:r>
            <a:rPr lang="en-US" dirty="0"/>
            <a:t>No other data has been used that would reinforce future trend.</a:t>
          </a:r>
        </a:p>
      </dgm:t>
    </dgm:pt>
    <dgm:pt modelId="{E5668EF3-DDB5-4B49-9EEC-9A08F0A18A7F}" type="parTrans" cxnId="{51AA26A4-33B6-45DA-8E14-623FAE815416}">
      <dgm:prSet/>
      <dgm:spPr/>
      <dgm:t>
        <a:bodyPr/>
        <a:lstStyle/>
        <a:p>
          <a:endParaRPr lang="en-US"/>
        </a:p>
      </dgm:t>
    </dgm:pt>
    <dgm:pt modelId="{0B3FC0A0-74A6-453E-B136-B29772549A92}" type="sibTrans" cxnId="{51AA26A4-33B6-45DA-8E14-623FAE815416}">
      <dgm:prSet/>
      <dgm:spPr/>
      <dgm:t>
        <a:bodyPr/>
        <a:lstStyle/>
        <a:p>
          <a:endParaRPr lang="en-US"/>
        </a:p>
      </dgm:t>
    </dgm:pt>
    <dgm:pt modelId="{01ACE7B3-5F74-40AD-B77D-3A398930BDB0}">
      <dgm:prSet/>
      <dgm:spPr/>
      <dgm:t>
        <a:bodyPr/>
        <a:lstStyle/>
        <a:p>
          <a:pPr>
            <a:lnSpc>
              <a:spcPct val="100000"/>
            </a:lnSpc>
            <a:defRPr cap="all"/>
          </a:pPr>
          <a:r>
            <a:rPr lang="en-US" dirty="0"/>
            <a:t>No future policies, change in tariffs or consideration of future weather changes are taken into account.</a:t>
          </a:r>
        </a:p>
      </dgm:t>
    </dgm:pt>
    <dgm:pt modelId="{31105884-E4E7-4DDA-8B98-834B97B52925}" type="parTrans" cxnId="{CE1460DC-BF94-40F6-ABF5-C9D0AE8202AA}">
      <dgm:prSet/>
      <dgm:spPr/>
      <dgm:t>
        <a:bodyPr/>
        <a:lstStyle/>
        <a:p>
          <a:endParaRPr lang="en-US"/>
        </a:p>
      </dgm:t>
    </dgm:pt>
    <dgm:pt modelId="{9FD037AB-1D7D-4A99-8B31-1B4038BC7A73}" type="sibTrans" cxnId="{CE1460DC-BF94-40F6-ABF5-C9D0AE8202AA}">
      <dgm:prSet/>
      <dgm:spPr/>
      <dgm:t>
        <a:bodyPr/>
        <a:lstStyle/>
        <a:p>
          <a:endParaRPr lang="en-US"/>
        </a:p>
      </dgm:t>
    </dgm:pt>
    <dgm:pt modelId="{D6D59FC7-DDDA-4491-9268-FB9B142FB6B0}" type="pres">
      <dgm:prSet presAssocID="{C3728B56-CAD8-4B5C-AE5D-10B53043A94E}" presName="root" presStyleCnt="0">
        <dgm:presLayoutVars>
          <dgm:dir/>
          <dgm:resizeHandles val="exact"/>
        </dgm:presLayoutVars>
      </dgm:prSet>
      <dgm:spPr/>
    </dgm:pt>
    <dgm:pt modelId="{91E7A842-6E49-472B-8394-B0B0C33DDB05}" type="pres">
      <dgm:prSet presAssocID="{3A84CD9C-3318-495D-B2A2-FD937C30A489}" presName="compNode" presStyleCnt="0"/>
      <dgm:spPr/>
    </dgm:pt>
    <dgm:pt modelId="{DD0FF927-54FA-4972-8D2E-D18124191CCE}" type="pres">
      <dgm:prSet presAssocID="{3A84CD9C-3318-495D-B2A2-FD937C30A489}" presName="iconBgRect" presStyleLbl="bgShp" presStyleIdx="0" presStyleCnt="3"/>
      <dgm:spPr/>
    </dgm:pt>
    <dgm:pt modelId="{BAD8C47D-5200-4ABF-9383-B7863C870ED0}" type="pres">
      <dgm:prSet presAssocID="{3A84CD9C-3318-495D-B2A2-FD937C30A48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ank"/>
        </a:ext>
      </dgm:extLst>
    </dgm:pt>
    <dgm:pt modelId="{F59FCF8B-1958-4F02-A701-90E1BBA520CF}" type="pres">
      <dgm:prSet presAssocID="{3A84CD9C-3318-495D-B2A2-FD937C30A489}" presName="spaceRect" presStyleCnt="0"/>
      <dgm:spPr/>
    </dgm:pt>
    <dgm:pt modelId="{0442248D-58A8-4B7C-A5C1-DB61CEF446AC}" type="pres">
      <dgm:prSet presAssocID="{3A84CD9C-3318-495D-B2A2-FD937C30A489}" presName="textRect" presStyleLbl="revTx" presStyleIdx="0" presStyleCnt="3">
        <dgm:presLayoutVars>
          <dgm:chMax val="1"/>
          <dgm:chPref val="1"/>
        </dgm:presLayoutVars>
      </dgm:prSet>
      <dgm:spPr/>
    </dgm:pt>
    <dgm:pt modelId="{D5A69318-95A5-4A46-BD66-B284F8736D5C}" type="pres">
      <dgm:prSet presAssocID="{ADE4DA08-FDF4-47EB-B413-49C8E0566206}" presName="sibTrans" presStyleCnt="0"/>
      <dgm:spPr/>
    </dgm:pt>
    <dgm:pt modelId="{7B9346A4-D276-4E3B-95E1-5BF4985DABB5}" type="pres">
      <dgm:prSet presAssocID="{F8CF21F7-C1F1-410E-BDDC-20D8A890DD25}" presName="compNode" presStyleCnt="0"/>
      <dgm:spPr/>
    </dgm:pt>
    <dgm:pt modelId="{8D64E49B-7437-4773-B964-7385DEFE28BB}" type="pres">
      <dgm:prSet presAssocID="{F8CF21F7-C1F1-410E-BDDC-20D8A890DD25}" presName="iconBgRect" presStyleLbl="bgShp" presStyleIdx="1" presStyleCnt="3"/>
      <dgm:spPr/>
    </dgm:pt>
    <dgm:pt modelId="{B046B35C-2DAD-4622-A983-895CFCC82E85}" type="pres">
      <dgm:prSet presAssocID="{F8CF21F7-C1F1-410E-BDDC-20D8A890DD2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atistics"/>
        </a:ext>
      </dgm:extLst>
    </dgm:pt>
    <dgm:pt modelId="{7C5B65DB-D46C-42E9-93B4-0ABF813E34DE}" type="pres">
      <dgm:prSet presAssocID="{F8CF21F7-C1F1-410E-BDDC-20D8A890DD25}" presName="spaceRect" presStyleCnt="0"/>
      <dgm:spPr/>
    </dgm:pt>
    <dgm:pt modelId="{139AC2E3-FAE6-42D2-B486-FF87F5A9845F}" type="pres">
      <dgm:prSet presAssocID="{F8CF21F7-C1F1-410E-BDDC-20D8A890DD25}" presName="textRect" presStyleLbl="revTx" presStyleIdx="1" presStyleCnt="3">
        <dgm:presLayoutVars>
          <dgm:chMax val="1"/>
          <dgm:chPref val="1"/>
        </dgm:presLayoutVars>
      </dgm:prSet>
      <dgm:spPr/>
    </dgm:pt>
    <dgm:pt modelId="{B5BA63AD-434C-4F5D-A6E5-C9849282CB77}" type="pres">
      <dgm:prSet presAssocID="{0B3FC0A0-74A6-453E-B136-B29772549A92}" presName="sibTrans" presStyleCnt="0"/>
      <dgm:spPr/>
    </dgm:pt>
    <dgm:pt modelId="{3D6817EC-0593-4B9E-BD4D-DE29D1EED32E}" type="pres">
      <dgm:prSet presAssocID="{01ACE7B3-5F74-40AD-B77D-3A398930BDB0}" presName="compNode" presStyleCnt="0"/>
      <dgm:spPr/>
    </dgm:pt>
    <dgm:pt modelId="{BE07091C-0EF7-4583-BD1F-3DB52848912F}" type="pres">
      <dgm:prSet presAssocID="{01ACE7B3-5F74-40AD-B77D-3A398930BDB0}" presName="iconBgRect" presStyleLbl="bgShp" presStyleIdx="2" presStyleCnt="3"/>
      <dgm:spPr/>
    </dgm:pt>
    <dgm:pt modelId="{1B723641-D191-43C3-982F-B47C778A1064}" type="pres">
      <dgm:prSet presAssocID="{01ACE7B3-5F74-40AD-B77D-3A398930BDB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Lightning"/>
        </a:ext>
      </dgm:extLst>
    </dgm:pt>
    <dgm:pt modelId="{707311FD-D24C-4EC5-8712-59B233A0D18F}" type="pres">
      <dgm:prSet presAssocID="{01ACE7B3-5F74-40AD-B77D-3A398930BDB0}" presName="spaceRect" presStyleCnt="0"/>
      <dgm:spPr/>
    </dgm:pt>
    <dgm:pt modelId="{35E9CF08-23EB-411D-8BE4-0082AE395285}" type="pres">
      <dgm:prSet presAssocID="{01ACE7B3-5F74-40AD-B77D-3A398930BDB0}" presName="textRect" presStyleLbl="revTx" presStyleIdx="2" presStyleCnt="3">
        <dgm:presLayoutVars>
          <dgm:chMax val="1"/>
          <dgm:chPref val="1"/>
        </dgm:presLayoutVars>
      </dgm:prSet>
      <dgm:spPr/>
    </dgm:pt>
  </dgm:ptLst>
  <dgm:cxnLst>
    <dgm:cxn modelId="{7548852B-5E69-492A-AB56-B05A8E82678A}" type="presOf" srcId="{C3728B56-CAD8-4B5C-AE5D-10B53043A94E}" destId="{D6D59FC7-DDDA-4491-9268-FB9B142FB6B0}" srcOrd="0" destOrd="0" presId="urn:microsoft.com/office/officeart/2018/5/layout/IconCircleLabelList"/>
    <dgm:cxn modelId="{45E8C133-7774-4CE5-9AC9-1755DAACF68B}" type="presOf" srcId="{3A84CD9C-3318-495D-B2A2-FD937C30A489}" destId="{0442248D-58A8-4B7C-A5C1-DB61CEF446AC}" srcOrd="0" destOrd="0" presId="urn:microsoft.com/office/officeart/2018/5/layout/IconCircleLabelList"/>
    <dgm:cxn modelId="{AA92A145-92F2-4A92-9B2C-495A79CEA659}" srcId="{C3728B56-CAD8-4B5C-AE5D-10B53043A94E}" destId="{3A84CD9C-3318-495D-B2A2-FD937C30A489}" srcOrd="0" destOrd="0" parTransId="{55D188F4-EAF4-444D-B5C7-D0C253F27BBC}" sibTransId="{ADE4DA08-FDF4-47EB-B413-49C8E0566206}"/>
    <dgm:cxn modelId="{DBBD746C-FE76-4101-AC3A-8C463CA86F0F}" type="presOf" srcId="{F8CF21F7-C1F1-410E-BDDC-20D8A890DD25}" destId="{139AC2E3-FAE6-42D2-B486-FF87F5A9845F}" srcOrd="0" destOrd="0" presId="urn:microsoft.com/office/officeart/2018/5/layout/IconCircleLabelList"/>
    <dgm:cxn modelId="{51AA26A4-33B6-45DA-8E14-623FAE815416}" srcId="{C3728B56-CAD8-4B5C-AE5D-10B53043A94E}" destId="{F8CF21F7-C1F1-410E-BDDC-20D8A890DD25}" srcOrd="1" destOrd="0" parTransId="{E5668EF3-DDB5-4B49-9EEC-9A08F0A18A7F}" sibTransId="{0B3FC0A0-74A6-453E-B136-B29772549A92}"/>
    <dgm:cxn modelId="{CE1460DC-BF94-40F6-ABF5-C9D0AE8202AA}" srcId="{C3728B56-CAD8-4B5C-AE5D-10B53043A94E}" destId="{01ACE7B3-5F74-40AD-B77D-3A398930BDB0}" srcOrd="2" destOrd="0" parTransId="{31105884-E4E7-4DDA-8B98-834B97B52925}" sibTransId="{9FD037AB-1D7D-4A99-8B31-1B4038BC7A73}"/>
    <dgm:cxn modelId="{1340A9EA-4A70-4272-A073-9B980ED93A6B}" type="presOf" srcId="{01ACE7B3-5F74-40AD-B77D-3A398930BDB0}" destId="{35E9CF08-23EB-411D-8BE4-0082AE395285}" srcOrd="0" destOrd="0" presId="urn:microsoft.com/office/officeart/2018/5/layout/IconCircleLabelList"/>
    <dgm:cxn modelId="{97E1A8F6-69E5-4F4C-B158-04D6D4D2153E}" type="presParOf" srcId="{D6D59FC7-DDDA-4491-9268-FB9B142FB6B0}" destId="{91E7A842-6E49-472B-8394-B0B0C33DDB05}" srcOrd="0" destOrd="0" presId="urn:microsoft.com/office/officeart/2018/5/layout/IconCircleLabelList"/>
    <dgm:cxn modelId="{2DAA7B95-4A4E-4C65-B59D-8551DC8E1E3A}" type="presParOf" srcId="{91E7A842-6E49-472B-8394-B0B0C33DDB05}" destId="{DD0FF927-54FA-4972-8D2E-D18124191CCE}" srcOrd="0" destOrd="0" presId="urn:microsoft.com/office/officeart/2018/5/layout/IconCircleLabelList"/>
    <dgm:cxn modelId="{4A61B7CD-B043-4B31-887D-E32A9F6B8D2B}" type="presParOf" srcId="{91E7A842-6E49-472B-8394-B0B0C33DDB05}" destId="{BAD8C47D-5200-4ABF-9383-B7863C870ED0}" srcOrd="1" destOrd="0" presId="urn:microsoft.com/office/officeart/2018/5/layout/IconCircleLabelList"/>
    <dgm:cxn modelId="{DB61242E-483C-4F84-B9AC-82DC1C879625}" type="presParOf" srcId="{91E7A842-6E49-472B-8394-B0B0C33DDB05}" destId="{F59FCF8B-1958-4F02-A701-90E1BBA520CF}" srcOrd="2" destOrd="0" presId="urn:microsoft.com/office/officeart/2018/5/layout/IconCircleLabelList"/>
    <dgm:cxn modelId="{49907B87-88A7-4C0C-BC40-60E8805C458E}" type="presParOf" srcId="{91E7A842-6E49-472B-8394-B0B0C33DDB05}" destId="{0442248D-58A8-4B7C-A5C1-DB61CEF446AC}" srcOrd="3" destOrd="0" presId="urn:microsoft.com/office/officeart/2018/5/layout/IconCircleLabelList"/>
    <dgm:cxn modelId="{06A91DE9-6470-4B92-B356-882CF62D62CC}" type="presParOf" srcId="{D6D59FC7-DDDA-4491-9268-FB9B142FB6B0}" destId="{D5A69318-95A5-4A46-BD66-B284F8736D5C}" srcOrd="1" destOrd="0" presId="urn:microsoft.com/office/officeart/2018/5/layout/IconCircleLabelList"/>
    <dgm:cxn modelId="{66CC3081-9827-4DDE-AAE2-92FBB5CC30B2}" type="presParOf" srcId="{D6D59FC7-DDDA-4491-9268-FB9B142FB6B0}" destId="{7B9346A4-D276-4E3B-95E1-5BF4985DABB5}" srcOrd="2" destOrd="0" presId="urn:microsoft.com/office/officeart/2018/5/layout/IconCircleLabelList"/>
    <dgm:cxn modelId="{31FC47C6-CDD5-4D9B-9786-A45952F30EDD}" type="presParOf" srcId="{7B9346A4-D276-4E3B-95E1-5BF4985DABB5}" destId="{8D64E49B-7437-4773-B964-7385DEFE28BB}" srcOrd="0" destOrd="0" presId="urn:microsoft.com/office/officeart/2018/5/layout/IconCircleLabelList"/>
    <dgm:cxn modelId="{A4001908-41A7-409C-A9AE-7ECA2BE9F285}" type="presParOf" srcId="{7B9346A4-D276-4E3B-95E1-5BF4985DABB5}" destId="{B046B35C-2DAD-4622-A983-895CFCC82E85}" srcOrd="1" destOrd="0" presId="urn:microsoft.com/office/officeart/2018/5/layout/IconCircleLabelList"/>
    <dgm:cxn modelId="{C189434D-EC68-46C2-AAB3-85FFC85B4B25}" type="presParOf" srcId="{7B9346A4-D276-4E3B-95E1-5BF4985DABB5}" destId="{7C5B65DB-D46C-42E9-93B4-0ABF813E34DE}" srcOrd="2" destOrd="0" presId="urn:microsoft.com/office/officeart/2018/5/layout/IconCircleLabelList"/>
    <dgm:cxn modelId="{EAB3DC82-907D-43C9-916A-1839760976B1}" type="presParOf" srcId="{7B9346A4-D276-4E3B-95E1-5BF4985DABB5}" destId="{139AC2E3-FAE6-42D2-B486-FF87F5A9845F}" srcOrd="3" destOrd="0" presId="urn:microsoft.com/office/officeart/2018/5/layout/IconCircleLabelList"/>
    <dgm:cxn modelId="{87E57D30-0271-4055-B9E0-EC2CDEF31DB4}" type="presParOf" srcId="{D6D59FC7-DDDA-4491-9268-FB9B142FB6B0}" destId="{B5BA63AD-434C-4F5D-A6E5-C9849282CB77}" srcOrd="3" destOrd="0" presId="urn:microsoft.com/office/officeart/2018/5/layout/IconCircleLabelList"/>
    <dgm:cxn modelId="{F13E6010-843F-4C48-A10B-329E20C2E34F}" type="presParOf" srcId="{D6D59FC7-DDDA-4491-9268-FB9B142FB6B0}" destId="{3D6817EC-0593-4B9E-BD4D-DE29D1EED32E}" srcOrd="4" destOrd="0" presId="urn:microsoft.com/office/officeart/2018/5/layout/IconCircleLabelList"/>
    <dgm:cxn modelId="{42F4231E-AD0A-403B-9E56-C1DE1825C5D2}" type="presParOf" srcId="{3D6817EC-0593-4B9E-BD4D-DE29D1EED32E}" destId="{BE07091C-0EF7-4583-BD1F-3DB52848912F}" srcOrd="0" destOrd="0" presId="urn:microsoft.com/office/officeart/2018/5/layout/IconCircleLabelList"/>
    <dgm:cxn modelId="{E0F4EF39-3792-49AB-B70C-4403775A6C37}" type="presParOf" srcId="{3D6817EC-0593-4B9E-BD4D-DE29D1EED32E}" destId="{1B723641-D191-43C3-982F-B47C778A1064}" srcOrd="1" destOrd="0" presId="urn:microsoft.com/office/officeart/2018/5/layout/IconCircleLabelList"/>
    <dgm:cxn modelId="{6607C230-3E49-4E2C-848F-32596674016F}" type="presParOf" srcId="{3D6817EC-0593-4B9E-BD4D-DE29D1EED32E}" destId="{707311FD-D24C-4EC5-8712-59B233A0D18F}" srcOrd="2" destOrd="0" presId="urn:microsoft.com/office/officeart/2018/5/layout/IconCircleLabelList"/>
    <dgm:cxn modelId="{643680FE-DF13-451B-BAC7-C4042C794048}" type="presParOf" srcId="{3D6817EC-0593-4B9E-BD4D-DE29D1EED32E}" destId="{35E9CF08-23EB-411D-8BE4-0082AE395285}"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0FF927-54FA-4972-8D2E-D18124191CCE}">
      <dsp:nvSpPr>
        <dsp:cNvPr id="0" name=""/>
        <dsp:cNvSpPr/>
      </dsp:nvSpPr>
      <dsp:spPr>
        <a:xfrm>
          <a:off x="679050" y="578168"/>
          <a:ext cx="1887187" cy="188718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D8C47D-5200-4ABF-9383-B7863C870ED0}">
      <dsp:nvSpPr>
        <dsp:cNvPr id="0" name=""/>
        <dsp:cNvSpPr/>
      </dsp:nvSpPr>
      <dsp:spPr>
        <a:xfrm>
          <a:off x="1081237" y="980356"/>
          <a:ext cx="1082812" cy="1082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42248D-58A8-4B7C-A5C1-DB61CEF446AC}">
      <dsp:nvSpPr>
        <dsp:cNvPr id="0" name=""/>
        <dsp:cNvSpPr/>
      </dsp:nvSpPr>
      <dsp:spPr>
        <a:xfrm>
          <a:off x="75768"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rtl="0">
            <a:lnSpc>
              <a:spcPct val="100000"/>
            </a:lnSpc>
            <a:spcBef>
              <a:spcPct val="0"/>
            </a:spcBef>
            <a:spcAft>
              <a:spcPct val="35000"/>
            </a:spcAft>
            <a:buNone/>
            <a:defRPr cap="all"/>
          </a:pPr>
          <a:r>
            <a:rPr lang="en-US" sz="1200" kern="1200" dirty="0"/>
            <a:t>This analysis is purely based on the </a:t>
          </a:r>
          <a:r>
            <a:rPr lang="en-US" sz="1200" kern="1200" dirty="0">
              <a:latin typeface="Aptos Display" panose="020F0302020204030204"/>
            </a:rPr>
            <a:t>open dataset provided.</a:t>
          </a:r>
          <a:endParaRPr lang="en-US" sz="1200" kern="1200" dirty="0"/>
        </a:p>
      </dsp:txBody>
      <dsp:txXfrm>
        <a:off x="75768" y="3053169"/>
        <a:ext cx="3093750" cy="720000"/>
      </dsp:txXfrm>
    </dsp:sp>
    <dsp:sp modelId="{8D64E49B-7437-4773-B964-7385DEFE28BB}">
      <dsp:nvSpPr>
        <dsp:cNvPr id="0" name=""/>
        <dsp:cNvSpPr/>
      </dsp:nvSpPr>
      <dsp:spPr>
        <a:xfrm>
          <a:off x="4314206" y="578168"/>
          <a:ext cx="1887187" cy="188718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46B35C-2DAD-4622-A983-895CFCC82E85}">
      <dsp:nvSpPr>
        <dsp:cNvPr id="0" name=""/>
        <dsp:cNvSpPr/>
      </dsp:nvSpPr>
      <dsp:spPr>
        <a:xfrm>
          <a:off x="4716393" y="980356"/>
          <a:ext cx="1082812" cy="1082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39AC2E3-FAE6-42D2-B486-FF87F5A9845F}">
      <dsp:nvSpPr>
        <dsp:cNvPr id="0" name=""/>
        <dsp:cNvSpPr/>
      </dsp:nvSpPr>
      <dsp:spPr>
        <a:xfrm>
          <a:off x="3710925"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kern="1200" dirty="0"/>
            <a:t>No other data has been used that would reinforce future trend.</a:t>
          </a:r>
        </a:p>
      </dsp:txBody>
      <dsp:txXfrm>
        <a:off x="3710925" y="3053169"/>
        <a:ext cx="3093750" cy="720000"/>
      </dsp:txXfrm>
    </dsp:sp>
    <dsp:sp modelId="{BE07091C-0EF7-4583-BD1F-3DB52848912F}">
      <dsp:nvSpPr>
        <dsp:cNvPr id="0" name=""/>
        <dsp:cNvSpPr/>
      </dsp:nvSpPr>
      <dsp:spPr>
        <a:xfrm>
          <a:off x="7949362" y="578168"/>
          <a:ext cx="1887187" cy="188718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723641-D191-43C3-982F-B47C778A1064}">
      <dsp:nvSpPr>
        <dsp:cNvPr id="0" name=""/>
        <dsp:cNvSpPr/>
      </dsp:nvSpPr>
      <dsp:spPr>
        <a:xfrm>
          <a:off x="8351550" y="980356"/>
          <a:ext cx="1082812" cy="10828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E9CF08-23EB-411D-8BE4-0082AE395285}">
      <dsp:nvSpPr>
        <dsp:cNvPr id="0" name=""/>
        <dsp:cNvSpPr/>
      </dsp:nvSpPr>
      <dsp:spPr>
        <a:xfrm>
          <a:off x="7346081"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kern="1200" dirty="0"/>
            <a:t>No future policies, change in tariffs or consideration of future weather changes are taken into account.</a:t>
          </a:r>
        </a:p>
      </dsp:txBody>
      <dsp:txXfrm>
        <a:off x="7346081" y="3053169"/>
        <a:ext cx="309375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3/22/2026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3/22/2026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assets.publishing.service.gov.uk/media/69426ec31ec67214e98f3058/Domestic_electricity_consumption_distribution_2015-2024.xlsx" TargetMode="Externa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826396" y="586855"/>
            <a:ext cx="4230100" cy="3387497"/>
          </a:xfrm>
        </p:spPr>
        <p:txBody>
          <a:bodyPr vert="horz" lIns="91440" tIns="45720" rIns="91440" bIns="45720" rtlCol="0" anchor="b">
            <a:normAutofit/>
          </a:bodyPr>
          <a:lstStyle/>
          <a:p>
            <a:pPr algn="r"/>
            <a:r>
              <a:rPr lang="en-US" sz="4000" kern="1200">
                <a:solidFill>
                  <a:srgbClr val="FFFFFF"/>
                </a:solidFill>
                <a:latin typeface="+mj-lt"/>
                <a:ea typeface="+mj-ea"/>
                <a:cs typeface="+mj-cs"/>
              </a:rPr>
              <a:t>Domestic Energy Consumption Trends</a:t>
            </a:r>
          </a:p>
        </p:txBody>
      </p:sp>
      <p:sp>
        <p:nvSpPr>
          <p:cNvPr id="3" name="Subtitle 2"/>
          <p:cNvSpPr>
            <a:spLocks noGrp="1"/>
          </p:cNvSpPr>
          <p:nvPr>
            <p:ph type="subTitle" idx="1"/>
          </p:nvPr>
        </p:nvSpPr>
        <p:spPr>
          <a:xfrm>
            <a:off x="6503158" y="649480"/>
            <a:ext cx="4862447" cy="5546047"/>
          </a:xfrm>
        </p:spPr>
        <p:txBody>
          <a:bodyPr vert="horz" lIns="91440" tIns="45720" rIns="91440" bIns="45720" rtlCol="0" anchor="ctr">
            <a:normAutofit/>
          </a:bodyPr>
          <a:lstStyle/>
          <a:p>
            <a:pPr indent="-228600" algn="l">
              <a:buFont typeface="Arial" panose="020B0604020202020204" pitchFamily="34" charset="0"/>
              <a:buChar char="•"/>
            </a:pPr>
            <a:r>
              <a:rPr lang="en-US" sz="2000" b="1" dirty="0"/>
              <a:t>Objectives</a:t>
            </a:r>
          </a:p>
          <a:p>
            <a:pPr indent="-228600" algn="l">
              <a:buFont typeface="Arial" panose="020B0604020202020204" pitchFamily="34" charset="0"/>
              <a:buChar char="•"/>
            </a:pPr>
            <a:endParaRPr lang="en-US" sz="2000"/>
          </a:p>
          <a:p>
            <a:pPr marL="342900" indent="-228600" algn="l">
              <a:buFont typeface="Arial" panose="020B0604020202020204" pitchFamily="34" charset="0"/>
              <a:buChar char="•"/>
            </a:pPr>
            <a:r>
              <a:rPr lang="en-US" sz="2000" dirty="0"/>
              <a:t>How has the electricity consumption varied in the last 10 years?</a:t>
            </a:r>
          </a:p>
          <a:p>
            <a:pPr marL="342900" indent="-228600" algn="l">
              <a:buFont typeface="Arial" panose="020B0604020202020204" pitchFamily="34" charset="0"/>
              <a:buChar char="•"/>
            </a:pPr>
            <a:r>
              <a:rPr lang="en-US" sz="2000" dirty="0"/>
              <a:t>How has the domestic customer base changed in the past 10 years?</a:t>
            </a:r>
          </a:p>
          <a:p>
            <a:pPr marL="342900" indent="-228600" algn="l">
              <a:buFont typeface="Arial" panose="020B0604020202020204" pitchFamily="34" charset="0"/>
              <a:buChar char="•"/>
            </a:pPr>
            <a:r>
              <a:rPr lang="en-US" sz="2000" dirty="0"/>
              <a:t>What trend is forecasted based on the current data available?</a:t>
            </a:r>
          </a:p>
          <a:p>
            <a:pPr marL="342900" indent="-228600" algn="l">
              <a:buFont typeface="Arial" panose="020B0604020202020204" pitchFamily="34" charset="0"/>
              <a:buChar char="•"/>
            </a:pPr>
            <a:r>
              <a:rPr lang="en-US" sz="2000" dirty="0"/>
              <a:t>What constraints affect the accuracy of these predictions?</a:t>
            </a:r>
          </a:p>
          <a:p>
            <a:pPr marL="342900" indent="-228600" algn="l">
              <a:buFont typeface="Arial" panose="020B0604020202020204" pitchFamily="34" charset="0"/>
              <a:buChar char="•"/>
            </a:pPr>
            <a:endParaRPr lang="en-US" sz="2000" dirty="0"/>
          </a:p>
          <a:p>
            <a:pPr marL="342900" indent="-228600" algn="l">
              <a:buFont typeface="Arial" panose="020B0604020202020204" pitchFamily="34" charset="0"/>
              <a:buChar char="•"/>
            </a:pPr>
            <a:endParaRPr lang="en-US" sz="200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26F8B4-CB8A-005C-33E6-006EF40AA48F}"/>
              </a:ext>
            </a:extLst>
          </p:cNvPr>
          <p:cNvSpPr>
            <a:spLocks noGrp="1"/>
          </p:cNvSpPr>
          <p:nvPr>
            <p:ph type="title"/>
          </p:nvPr>
        </p:nvSpPr>
        <p:spPr>
          <a:xfrm>
            <a:off x="413805" y="1359438"/>
            <a:ext cx="3201366" cy="3387497"/>
          </a:xfrm>
        </p:spPr>
        <p:txBody>
          <a:bodyPr anchor="b">
            <a:normAutofit/>
          </a:bodyPr>
          <a:lstStyle/>
          <a:p>
            <a:pPr algn="r"/>
            <a:r>
              <a:rPr lang="en-US" sz="4000">
                <a:solidFill>
                  <a:srgbClr val="FFFFFF"/>
                </a:solidFill>
              </a:rPr>
              <a:t>Key Findings From the UK Electricity Consumption Data</a:t>
            </a:r>
          </a:p>
        </p:txBody>
      </p:sp>
      <p:sp>
        <p:nvSpPr>
          <p:cNvPr id="6" name="Content Placeholder 5">
            <a:extLst>
              <a:ext uri="{FF2B5EF4-FFF2-40B4-BE49-F238E27FC236}">
                <a16:creationId xmlns:a16="http://schemas.microsoft.com/office/drawing/2014/main" id="{A59B5CB9-B9F0-5BFE-9313-7C17C0E87A30}"/>
              </a:ext>
            </a:extLst>
          </p:cNvPr>
          <p:cNvSpPr>
            <a:spLocks noGrp="1"/>
          </p:cNvSpPr>
          <p:nvPr>
            <p:ph idx="1"/>
          </p:nvPr>
        </p:nvSpPr>
        <p:spPr>
          <a:xfrm>
            <a:off x="4041977" y="649480"/>
            <a:ext cx="4665719" cy="5556630"/>
          </a:xfrm>
        </p:spPr>
        <p:txBody>
          <a:bodyPr vert="horz" lIns="91440" tIns="45720" rIns="91440" bIns="45720" rtlCol="0" anchor="ctr">
            <a:normAutofit lnSpcReduction="10000"/>
          </a:bodyPr>
          <a:lstStyle/>
          <a:p>
            <a:endParaRPr lang="en-US" sz="1100"/>
          </a:p>
          <a:p>
            <a:endParaRPr lang="en-US" sz="1100"/>
          </a:p>
          <a:p>
            <a:endParaRPr lang="en-US" sz="1100"/>
          </a:p>
          <a:p>
            <a:r>
              <a:rPr lang="en-US" sz="2000" dirty="0"/>
              <a:t>The data from the Gov.uk site</a:t>
            </a:r>
            <a:r>
              <a:rPr lang="en-US" sz="2000" baseline="30000" dirty="0"/>
              <a:t>1 </a:t>
            </a:r>
            <a:r>
              <a:rPr lang="en-US" sz="2000" dirty="0"/>
              <a:t>clearly shows t</a:t>
            </a:r>
            <a:r>
              <a:rPr lang="en-US" sz="2000" dirty="0">
                <a:ea typeface="+mn-lt"/>
                <a:cs typeface="+mn-lt"/>
              </a:rPr>
              <a:t>hat customer base of electricity consumption is has increased steadily and shows constant YoY growth. </a:t>
            </a:r>
            <a:endParaRPr lang="en-US" sz="2000" dirty="0"/>
          </a:p>
          <a:p>
            <a:r>
              <a:rPr lang="en-US" sz="2000" dirty="0"/>
              <a:t>Despite the increasing customer base, the  total electricity consumption declined from year 2015 till 2019. </a:t>
            </a:r>
          </a:p>
          <a:p>
            <a:r>
              <a:rPr lang="en-US" sz="2000" dirty="0"/>
              <a:t>It spiked in 2020 and </a:t>
            </a:r>
            <a:r>
              <a:rPr lang="en-US" sz="2000" err="1"/>
              <a:t>stabilised</a:t>
            </a:r>
            <a:r>
              <a:rPr lang="en-US" sz="2000" dirty="0"/>
              <a:t> in 2021 and 2022 but is once again showing growth from 2023 onwards.</a:t>
            </a:r>
          </a:p>
          <a:p>
            <a:endParaRPr lang="en-US" sz="1100"/>
          </a:p>
          <a:p>
            <a:endParaRPr lang="en-US" sz="1100"/>
          </a:p>
          <a:p>
            <a:endParaRPr lang="en-US" sz="1100"/>
          </a:p>
          <a:p>
            <a:pPr marL="0" indent="0">
              <a:buNone/>
            </a:pPr>
            <a:endParaRPr lang="en-US" sz="1100"/>
          </a:p>
          <a:p>
            <a:pPr marL="0" indent="0">
              <a:buNone/>
            </a:pPr>
            <a:r>
              <a:rPr lang="en-US" sz="1100" dirty="0"/>
              <a:t>1.The data </a:t>
            </a:r>
            <a:r>
              <a:rPr lang="en-US" sz="1100" dirty="0" err="1"/>
              <a:t>analysed</a:t>
            </a:r>
            <a:r>
              <a:rPr lang="en-US" sz="1100" dirty="0"/>
              <a:t> has been taken from </a:t>
            </a:r>
          </a:p>
          <a:p>
            <a:pPr marL="0" indent="0">
              <a:buNone/>
            </a:pPr>
            <a:r>
              <a:rPr lang="en-US" sz="1100" dirty="0">
                <a:hlinkClick r:id="rId2">
                  <a:extLst>
                    <a:ext uri="{A12FA001-AC4F-418D-AE19-62706E023703}">
                      <ahyp:hlinkClr xmlns:ahyp="http://schemas.microsoft.com/office/drawing/2018/hyperlinkcolor" val="tx"/>
                    </a:ext>
                  </a:extLst>
                </a:hlinkClick>
              </a:rPr>
              <a:t>https://assets.publishing.service.gov.uk/media/69426ec31ec67214e98f3058/Domestic_electricity_consumption_distribution_2015-2024.xlsx</a:t>
            </a:r>
            <a:r>
              <a:rPr lang="en-US" sz="1100" dirty="0"/>
              <a:t> </a:t>
            </a:r>
          </a:p>
        </p:txBody>
      </p:sp>
      <p:pic>
        <p:nvPicPr>
          <p:cNvPr id="10" name="Graphic 9" descr="Bar Graph with Upward Trend">
            <a:extLst>
              <a:ext uri="{FF2B5EF4-FFF2-40B4-BE49-F238E27FC236}">
                <a16:creationId xmlns:a16="http://schemas.microsoft.com/office/drawing/2014/main" id="{D407B314-AA97-94C6-DCA3-1CA1358DF36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09502" y="1627051"/>
            <a:ext cx="3615776" cy="3615776"/>
          </a:xfrm>
          <a:prstGeom prst="rect">
            <a:avLst/>
          </a:prstGeom>
        </p:spPr>
      </p:pic>
    </p:spTree>
    <p:extLst>
      <p:ext uri="{BB962C8B-B14F-4D97-AF65-F5344CB8AC3E}">
        <p14:creationId xmlns:p14="http://schemas.microsoft.com/office/powerpoint/2010/main" val="3227828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359CB-333F-12B0-23C1-AF07E57A1835}"/>
              </a:ext>
            </a:extLst>
          </p:cNvPr>
          <p:cNvSpPr>
            <a:spLocks noGrp="1"/>
          </p:cNvSpPr>
          <p:nvPr>
            <p:ph type="title"/>
          </p:nvPr>
        </p:nvSpPr>
        <p:spPr/>
        <p:txBody>
          <a:bodyPr/>
          <a:lstStyle/>
          <a:p>
            <a:r>
              <a:rPr lang="en-US" dirty="0"/>
              <a:t>Explanation of Data Used </a:t>
            </a:r>
          </a:p>
        </p:txBody>
      </p:sp>
      <p:sp>
        <p:nvSpPr>
          <p:cNvPr id="3" name="Content Placeholder 2">
            <a:extLst>
              <a:ext uri="{FF2B5EF4-FFF2-40B4-BE49-F238E27FC236}">
                <a16:creationId xmlns:a16="http://schemas.microsoft.com/office/drawing/2014/main" id="{D14F7D0A-7C65-2068-3BF4-EFEAAE35A9F9}"/>
              </a:ext>
            </a:extLst>
          </p:cNvPr>
          <p:cNvSpPr>
            <a:spLocks noGrp="1"/>
          </p:cNvSpPr>
          <p:nvPr>
            <p:ph idx="1"/>
          </p:nvPr>
        </p:nvSpPr>
        <p:spPr/>
        <p:txBody>
          <a:bodyPr vert="horz" lIns="91440" tIns="45720" rIns="91440" bIns="45720" rtlCol="0" anchor="t">
            <a:normAutofit/>
          </a:bodyPr>
          <a:lstStyle/>
          <a:p>
            <a:pPr marL="0" indent="0">
              <a:buNone/>
            </a:pPr>
            <a:r>
              <a:rPr lang="en-US" dirty="0"/>
              <a:t>The data taken originally had three columns – the upper consumption band, lower consumption band and the number of meters that displayed the electric energy consumed within that band. The energy consumption unit is kilowatt-hour (kWh). The third column represents the number of meters, and this data relates to all the domestic meters in UK for the past ten years. </a:t>
            </a:r>
          </a:p>
          <a:p>
            <a:pPr marL="0" indent="0">
              <a:buNone/>
            </a:pPr>
            <a:r>
              <a:rPr lang="en-US" dirty="0"/>
              <a:t>The following charts were created using this data after creating more columns and measures.</a:t>
            </a:r>
          </a:p>
        </p:txBody>
      </p:sp>
    </p:spTree>
    <p:extLst>
      <p:ext uri="{BB962C8B-B14F-4D97-AF65-F5344CB8AC3E}">
        <p14:creationId xmlns:p14="http://schemas.microsoft.com/office/powerpoint/2010/main" val="538800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A screenshot of a graph&#10;&#10;AI-generated content may be incorrect.">
            <a:extLst>
              <a:ext uri="{FF2B5EF4-FFF2-40B4-BE49-F238E27FC236}">
                <a16:creationId xmlns:a16="http://schemas.microsoft.com/office/drawing/2014/main" id="{EF3798BB-9BAB-B99E-26E8-F01C838A5C99}"/>
              </a:ext>
            </a:extLst>
          </p:cNvPr>
          <p:cNvPicPr>
            <a:picLocks noChangeAspect="1"/>
          </p:cNvPicPr>
          <p:nvPr/>
        </p:nvPicPr>
        <p:blipFill>
          <a:blip r:embed="rId2"/>
          <a:srcRect r="55992" b="-1"/>
          <a:stretch>
            <a:fillRect/>
          </a:stretch>
        </p:blipFill>
        <p:spPr>
          <a:xfrm>
            <a:off x="279143" y="299509"/>
            <a:ext cx="5221625" cy="6258983"/>
          </a:xfrm>
          <a:prstGeom prst="rect">
            <a:avLst/>
          </a:prstGeom>
        </p:spPr>
      </p:pic>
      <p:sp>
        <p:nvSpPr>
          <p:cNvPr id="11" name="Content Placeholder 10">
            <a:extLst>
              <a:ext uri="{FF2B5EF4-FFF2-40B4-BE49-F238E27FC236}">
                <a16:creationId xmlns:a16="http://schemas.microsoft.com/office/drawing/2014/main" id="{1D2484BD-8372-F930-5E46-4B228F1CCB75}"/>
              </a:ext>
            </a:extLst>
          </p:cNvPr>
          <p:cNvSpPr>
            <a:spLocks noGrp="1"/>
          </p:cNvSpPr>
          <p:nvPr>
            <p:ph idx="1"/>
          </p:nvPr>
        </p:nvSpPr>
        <p:spPr>
          <a:xfrm>
            <a:off x="6100483" y="118622"/>
            <a:ext cx="5653921" cy="6860027"/>
          </a:xfrm>
        </p:spPr>
        <p:txBody>
          <a:bodyPr anchor="t">
            <a:normAutofit/>
          </a:bodyPr>
          <a:lstStyle/>
          <a:p>
            <a:r>
              <a:rPr lang="en-US" sz="2000" dirty="0">
                <a:solidFill>
                  <a:schemeClr val="tx1">
                    <a:alpha val="80000"/>
                  </a:schemeClr>
                </a:solidFill>
              </a:rPr>
              <a:t>On the left are two charts that were created in </a:t>
            </a:r>
            <a:r>
              <a:rPr lang="en-US" sz="2000" dirty="0" err="1">
                <a:solidFill>
                  <a:schemeClr val="tx1">
                    <a:alpha val="80000"/>
                  </a:schemeClr>
                </a:solidFill>
              </a:rPr>
              <a:t>PowerBI</a:t>
            </a:r>
            <a:r>
              <a:rPr lang="en-US" sz="2000" dirty="0">
                <a:solidFill>
                  <a:schemeClr val="tx1">
                    <a:alpha val="80000"/>
                  </a:schemeClr>
                </a:solidFill>
              </a:rPr>
              <a:t> and are purposely put together to show how the total number of meters installed have changed  in the past 10 years. </a:t>
            </a:r>
            <a:endParaRPr lang="en-US" dirty="0">
              <a:solidFill>
                <a:schemeClr val="tx1">
                  <a:alpha val="80000"/>
                </a:schemeClr>
              </a:solidFill>
            </a:endParaRPr>
          </a:p>
          <a:p>
            <a:r>
              <a:rPr lang="en-US" sz="2000" dirty="0">
                <a:solidFill>
                  <a:schemeClr val="tx1">
                    <a:alpha val="80000"/>
                  </a:schemeClr>
                </a:solidFill>
              </a:rPr>
              <a:t>The x-axis of the top chart shows the electricity consumption band and the y axis displays the number of meters that displayed that energy usage. The number of meters have increased each year with quite a large change in the lowest energy band.</a:t>
            </a:r>
            <a:endParaRPr lang="en-US" dirty="0">
              <a:solidFill>
                <a:schemeClr val="tx1">
                  <a:alpha val="80000"/>
                </a:schemeClr>
              </a:solidFill>
            </a:endParaRPr>
          </a:p>
          <a:p>
            <a:r>
              <a:rPr lang="en-US" sz="2000" dirty="0">
                <a:solidFill>
                  <a:schemeClr val="tx1">
                    <a:alpha val="80000"/>
                  </a:schemeClr>
                </a:solidFill>
              </a:rPr>
              <a:t>The x-axis of the bottom chart again shows the energy band but the y axis shows the total electricity consumption of households in that band. </a:t>
            </a:r>
          </a:p>
          <a:p>
            <a:r>
              <a:rPr lang="en-US" sz="2000" dirty="0">
                <a:solidFill>
                  <a:schemeClr val="tx1">
                    <a:alpha val="80000"/>
                  </a:schemeClr>
                </a:solidFill>
              </a:rPr>
              <a:t>This shows that a higher volume of meters are installed but they are not consuming as much energy -  meaning that the customer base is increasing steadily.</a:t>
            </a:r>
          </a:p>
          <a:p>
            <a:endParaRPr lang="en-US" sz="2000" dirty="0">
              <a:solidFill>
                <a:srgbClr val="000000">
                  <a:alpha val="80000"/>
                </a:srgbClr>
              </a:solidFill>
            </a:endParaRPr>
          </a:p>
        </p:txBody>
      </p:sp>
      <p:cxnSp>
        <p:nvCxnSpPr>
          <p:cNvPr id="31" name="Straight Connector 30">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5244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104A63D-87F8-E5C2-C92A-6083B8A85E13}"/>
              </a:ext>
            </a:extLst>
          </p:cNvPr>
          <p:cNvPicPr>
            <a:picLocks noGrp="1" noChangeAspect="1"/>
          </p:cNvPicPr>
          <p:nvPr>
            <p:ph idx="1"/>
          </p:nvPr>
        </p:nvPicPr>
        <p:blipFill>
          <a:blip r:embed="rId2"/>
          <a:stretch>
            <a:fillRect/>
          </a:stretch>
        </p:blipFill>
        <p:spPr>
          <a:xfrm>
            <a:off x="214312" y="210344"/>
            <a:ext cx="11858623" cy="4652962"/>
          </a:xfrm>
          <a:prstGeom prst="rect">
            <a:avLst/>
          </a:prstGeom>
        </p:spPr>
      </p:pic>
      <p:sp>
        <p:nvSpPr>
          <p:cNvPr id="5" name="TextBox 4">
            <a:extLst>
              <a:ext uri="{FF2B5EF4-FFF2-40B4-BE49-F238E27FC236}">
                <a16:creationId xmlns:a16="http://schemas.microsoft.com/office/drawing/2014/main" id="{8D1B6787-4655-10AA-C2C2-76415752E778}"/>
              </a:ext>
            </a:extLst>
          </p:cNvPr>
          <p:cNvSpPr txBox="1"/>
          <p:nvPr/>
        </p:nvSpPr>
        <p:spPr>
          <a:xfrm>
            <a:off x="667543" y="5014912"/>
            <a:ext cx="1114901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The above two visuals again reinforce the fact in the previous slide. In the top visual there's a rise of meter installation in the lowest energy band  and very little increase in the highest energy band. However, in the bottom visual we can clearly see that the rise in meter does not correspond to the rise in energy consumption. The fewest meters in the 30kWk band gives rise to an energy spike in the bottom graph.</a:t>
            </a:r>
          </a:p>
        </p:txBody>
      </p:sp>
    </p:spTree>
    <p:extLst>
      <p:ext uri="{BB962C8B-B14F-4D97-AF65-F5344CB8AC3E}">
        <p14:creationId xmlns:p14="http://schemas.microsoft.com/office/powerpoint/2010/main" val="1097561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graph showing the number of years&#10;&#10;AI-generated content may be incorrect.">
            <a:extLst>
              <a:ext uri="{FF2B5EF4-FFF2-40B4-BE49-F238E27FC236}">
                <a16:creationId xmlns:a16="http://schemas.microsoft.com/office/drawing/2014/main" id="{48309490-BBD2-AF37-465E-AAFB6AEB8E9F}"/>
              </a:ext>
            </a:extLst>
          </p:cNvPr>
          <p:cNvPicPr>
            <a:picLocks noGrp="1" noChangeAspect="1"/>
          </p:cNvPicPr>
          <p:nvPr>
            <p:ph idx="1"/>
          </p:nvPr>
        </p:nvPicPr>
        <p:blipFill>
          <a:blip r:embed="rId2"/>
          <a:stretch>
            <a:fillRect/>
          </a:stretch>
        </p:blipFill>
        <p:spPr>
          <a:xfrm>
            <a:off x="126206" y="161529"/>
            <a:ext cx="11630024" cy="4631530"/>
          </a:xfrm>
          <a:prstGeom prst="rect">
            <a:avLst/>
          </a:prstGeom>
        </p:spPr>
      </p:pic>
      <p:sp>
        <p:nvSpPr>
          <p:cNvPr id="5" name="TextBox 4">
            <a:extLst>
              <a:ext uri="{FF2B5EF4-FFF2-40B4-BE49-F238E27FC236}">
                <a16:creationId xmlns:a16="http://schemas.microsoft.com/office/drawing/2014/main" id="{2D2674E3-A865-F5BF-4C5B-804233413640}"/>
              </a:ext>
            </a:extLst>
          </p:cNvPr>
          <p:cNvSpPr txBox="1"/>
          <p:nvPr/>
        </p:nvSpPr>
        <p:spPr>
          <a:xfrm>
            <a:off x="121444" y="5027613"/>
            <a:ext cx="11756228"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The top graph shows the number of meters that were read each year, showing a solid and consistent increase in customer base . The lower graph shows the total energy consumed by the domestic sector in UK in the past 10 years.</a:t>
            </a:r>
          </a:p>
          <a:p>
            <a:r>
              <a:rPr lang="en-US" dirty="0"/>
              <a:t>The energy consumption is steadily decreasing from 2015 till 2019. There's a sharp rise from 104 bn kWh to 110bn kWh. There's then a decline in energy usage and a slight increase after 2022. These changes are due to external factors like the work from home policy in covid in 2020 increased energy consumption and then the war in Ukraine gave rise to higher tariffs and in return people consumed less electricity.</a:t>
            </a:r>
          </a:p>
        </p:txBody>
      </p:sp>
    </p:spTree>
    <p:extLst>
      <p:ext uri="{BB962C8B-B14F-4D97-AF65-F5344CB8AC3E}">
        <p14:creationId xmlns:p14="http://schemas.microsoft.com/office/powerpoint/2010/main" val="2862426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graph showing the number of years&#10;&#10;AI-generated content may be incorrect.">
            <a:extLst>
              <a:ext uri="{FF2B5EF4-FFF2-40B4-BE49-F238E27FC236}">
                <a16:creationId xmlns:a16="http://schemas.microsoft.com/office/drawing/2014/main" id="{4E5D425C-D79E-2EA3-6B34-EA453B458571}"/>
              </a:ext>
            </a:extLst>
          </p:cNvPr>
          <p:cNvPicPr>
            <a:picLocks noGrp="1" noChangeAspect="1"/>
          </p:cNvPicPr>
          <p:nvPr>
            <p:ph idx="1"/>
          </p:nvPr>
        </p:nvPicPr>
        <p:blipFill>
          <a:blip r:embed="rId2"/>
          <a:stretch>
            <a:fillRect/>
          </a:stretch>
        </p:blipFill>
        <p:spPr>
          <a:xfrm>
            <a:off x="189309" y="137716"/>
            <a:ext cx="12003881" cy="4179095"/>
          </a:xfrm>
          <a:prstGeom prst="rect">
            <a:avLst/>
          </a:prstGeom>
        </p:spPr>
      </p:pic>
      <p:sp>
        <p:nvSpPr>
          <p:cNvPr id="5" name="TextBox 4">
            <a:extLst>
              <a:ext uri="{FF2B5EF4-FFF2-40B4-BE49-F238E27FC236}">
                <a16:creationId xmlns:a16="http://schemas.microsoft.com/office/drawing/2014/main" id="{6A0E95AF-D81D-9CB3-B837-D273727AC56B}"/>
              </a:ext>
            </a:extLst>
          </p:cNvPr>
          <p:cNvSpPr txBox="1"/>
          <p:nvPr/>
        </p:nvSpPr>
        <p:spPr>
          <a:xfrm>
            <a:off x="192087" y="4484686"/>
            <a:ext cx="11662568"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The top two graphs show the YoY growth in number of meters and total energy consumption for the last 9 years. The top graph shows a steady rise in meters showing a steady growth of electricity consumers. This however does not mean that there's a steady rise in electricity consumption.  The bottom graph shows positive and negative growth. The electricity consumption is volatile which means that the trend in the short term is unpredictable due to external factors like tariffs, weather etc. </a:t>
            </a:r>
          </a:p>
        </p:txBody>
      </p:sp>
    </p:spTree>
    <p:extLst>
      <p:ext uri="{BB962C8B-B14F-4D97-AF65-F5344CB8AC3E}">
        <p14:creationId xmlns:p14="http://schemas.microsoft.com/office/powerpoint/2010/main" val="552232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A6F03-8998-A006-77B5-1D9B1B3D3264}"/>
              </a:ext>
            </a:extLst>
          </p:cNvPr>
          <p:cNvSpPr>
            <a:spLocks noGrp="1"/>
          </p:cNvSpPr>
          <p:nvPr>
            <p:ph type="title"/>
          </p:nvPr>
        </p:nvSpPr>
        <p:spPr/>
        <p:txBody>
          <a:bodyPr/>
          <a:lstStyle/>
          <a:p>
            <a:pPr algn="ctr"/>
            <a:r>
              <a:rPr lang="en-US" dirty="0"/>
              <a:t>Future Trends in Domestic Electricity Consumption</a:t>
            </a:r>
          </a:p>
        </p:txBody>
      </p:sp>
      <p:sp>
        <p:nvSpPr>
          <p:cNvPr id="3" name="Content Placeholder 2">
            <a:extLst>
              <a:ext uri="{FF2B5EF4-FFF2-40B4-BE49-F238E27FC236}">
                <a16:creationId xmlns:a16="http://schemas.microsoft.com/office/drawing/2014/main" id="{2F6E35D9-A426-7AF3-3235-F63E9588ECEC}"/>
              </a:ext>
            </a:extLst>
          </p:cNvPr>
          <p:cNvSpPr>
            <a:spLocks noGrp="1"/>
          </p:cNvSpPr>
          <p:nvPr>
            <p:ph idx="1"/>
          </p:nvPr>
        </p:nvSpPr>
        <p:spPr>
          <a:xfrm>
            <a:off x="230982" y="1718469"/>
            <a:ext cx="11777661" cy="4779962"/>
          </a:xfrm>
        </p:spPr>
        <p:txBody>
          <a:bodyPr vert="horz" lIns="91440" tIns="45720" rIns="91440" bIns="45720" rtlCol="0" anchor="t">
            <a:normAutofit/>
          </a:bodyPr>
          <a:lstStyle/>
          <a:p>
            <a:pPr marL="0" indent="0">
              <a:buNone/>
            </a:pPr>
            <a:r>
              <a:rPr lang="en-US" dirty="0"/>
              <a:t>Having an understanding of the past ten years, it can be predicted that there would be growth in the customer base for electricity consumption. With increasing population and new homes and flats being built, this growth can be extrapolated.</a:t>
            </a:r>
          </a:p>
        </p:txBody>
      </p:sp>
      <p:pic>
        <p:nvPicPr>
          <p:cNvPr id="4" name="Picture 3" descr="A graph with a line going up&#10;&#10;AI-generated content may be incorrect.">
            <a:extLst>
              <a:ext uri="{FF2B5EF4-FFF2-40B4-BE49-F238E27FC236}">
                <a16:creationId xmlns:a16="http://schemas.microsoft.com/office/drawing/2014/main" id="{79ECD2F4-6FB8-F1BA-AF5C-396847E735F7}"/>
              </a:ext>
            </a:extLst>
          </p:cNvPr>
          <p:cNvPicPr>
            <a:picLocks noChangeAspect="1"/>
          </p:cNvPicPr>
          <p:nvPr/>
        </p:nvPicPr>
        <p:blipFill>
          <a:blip r:embed="rId2"/>
          <a:stretch>
            <a:fillRect/>
          </a:stretch>
        </p:blipFill>
        <p:spPr>
          <a:xfrm>
            <a:off x="619126" y="3433762"/>
            <a:ext cx="10941842" cy="2931318"/>
          </a:xfrm>
          <a:prstGeom prst="rect">
            <a:avLst/>
          </a:prstGeom>
        </p:spPr>
      </p:pic>
    </p:spTree>
    <p:extLst>
      <p:ext uri="{BB962C8B-B14F-4D97-AF65-F5344CB8AC3E}">
        <p14:creationId xmlns:p14="http://schemas.microsoft.com/office/powerpoint/2010/main" val="2210820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19A75-79C8-C8F4-BB05-EC8C18C7E4E9}"/>
              </a:ext>
            </a:extLst>
          </p:cNvPr>
          <p:cNvSpPr>
            <a:spLocks noGrp="1"/>
          </p:cNvSpPr>
          <p:nvPr>
            <p:ph type="title"/>
          </p:nvPr>
        </p:nvSpPr>
        <p:spPr/>
        <p:txBody>
          <a:bodyPr/>
          <a:lstStyle/>
          <a:p>
            <a:pPr algn="ctr"/>
            <a:r>
              <a:rPr lang="en-US" dirty="0"/>
              <a:t>Future Trends...</a:t>
            </a:r>
          </a:p>
        </p:txBody>
      </p:sp>
      <p:sp>
        <p:nvSpPr>
          <p:cNvPr id="3" name="Content Placeholder 2">
            <a:extLst>
              <a:ext uri="{FF2B5EF4-FFF2-40B4-BE49-F238E27FC236}">
                <a16:creationId xmlns:a16="http://schemas.microsoft.com/office/drawing/2014/main" id="{B5F97258-0BBC-F52F-5A1C-552AA3A2216C}"/>
              </a:ext>
            </a:extLst>
          </p:cNvPr>
          <p:cNvSpPr>
            <a:spLocks noGrp="1"/>
          </p:cNvSpPr>
          <p:nvPr>
            <p:ph idx="1"/>
          </p:nvPr>
        </p:nvSpPr>
        <p:spPr>
          <a:xfrm>
            <a:off x="838200" y="1361282"/>
            <a:ext cx="10515600" cy="4815681"/>
          </a:xfrm>
        </p:spPr>
        <p:txBody>
          <a:bodyPr vert="horz" lIns="91440" tIns="45720" rIns="91440" bIns="45720" rtlCol="0" anchor="t">
            <a:normAutofit/>
          </a:bodyPr>
          <a:lstStyle/>
          <a:p>
            <a:r>
              <a:rPr lang="en-US" dirty="0"/>
              <a:t>However, this increase in customer base would not automatically mean increased energy consumption. With rising cost of living and better built new homes with efficient conservation of energy, it can be foreseen that there would be a decline in domestic energy consumption.</a:t>
            </a:r>
          </a:p>
          <a:p>
            <a:endParaRPr lang="en-US" dirty="0"/>
          </a:p>
          <a:p>
            <a:endParaRPr lang="en-US" dirty="0"/>
          </a:p>
        </p:txBody>
      </p:sp>
      <p:pic>
        <p:nvPicPr>
          <p:cNvPr id="6" name="Picture 5">
            <a:extLst>
              <a:ext uri="{FF2B5EF4-FFF2-40B4-BE49-F238E27FC236}">
                <a16:creationId xmlns:a16="http://schemas.microsoft.com/office/drawing/2014/main" id="{FC879753-1BB3-9E3D-A443-4D6D01874626}"/>
              </a:ext>
            </a:extLst>
          </p:cNvPr>
          <p:cNvPicPr>
            <a:picLocks noChangeAspect="1"/>
          </p:cNvPicPr>
          <p:nvPr/>
        </p:nvPicPr>
        <p:blipFill>
          <a:blip r:embed="rId2"/>
          <a:stretch>
            <a:fillRect/>
          </a:stretch>
        </p:blipFill>
        <p:spPr>
          <a:xfrm>
            <a:off x="1305335" y="3428999"/>
            <a:ext cx="9932936" cy="2766698"/>
          </a:xfrm>
          <a:prstGeom prst="rect">
            <a:avLst/>
          </a:prstGeom>
        </p:spPr>
      </p:pic>
    </p:spTree>
    <p:extLst>
      <p:ext uri="{BB962C8B-B14F-4D97-AF65-F5344CB8AC3E}">
        <p14:creationId xmlns:p14="http://schemas.microsoft.com/office/powerpoint/2010/main" val="2678748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32FD5-4A7B-9E22-DD9F-8FE86DD38C85}"/>
              </a:ext>
            </a:extLst>
          </p:cNvPr>
          <p:cNvSpPr>
            <a:spLocks noGrp="1"/>
          </p:cNvSpPr>
          <p:nvPr>
            <p:ph type="title"/>
          </p:nvPr>
        </p:nvSpPr>
        <p:spPr/>
        <p:txBody>
          <a:bodyPr/>
          <a:lstStyle/>
          <a:p>
            <a:r>
              <a:rPr lang="en-US" dirty="0"/>
              <a:t>Limitations of This Analysis</a:t>
            </a:r>
          </a:p>
        </p:txBody>
      </p:sp>
      <p:graphicFrame>
        <p:nvGraphicFramePr>
          <p:cNvPr id="5" name="Content Placeholder 2">
            <a:extLst>
              <a:ext uri="{FF2B5EF4-FFF2-40B4-BE49-F238E27FC236}">
                <a16:creationId xmlns:a16="http://schemas.microsoft.com/office/drawing/2014/main" id="{F95EF8ED-6DB6-D6A3-DCC3-924AC35D77A8}"/>
              </a:ext>
            </a:extLst>
          </p:cNvPr>
          <p:cNvGraphicFramePr>
            <a:graphicFrameLocks noGrp="1"/>
          </p:cNvGraphicFramePr>
          <p:nvPr>
            <p:ph idx="1"/>
            <p:extLst>
              <p:ext uri="{D42A27DB-BD31-4B8C-83A1-F6EECF244321}">
                <p14:modId xmlns:p14="http://schemas.microsoft.com/office/powerpoint/2010/main" val="4177585137"/>
              </p:ext>
            </p:extLst>
          </p:nvPr>
        </p:nvGraphicFramePr>
        <p:xfrm>
          <a:off x="838200" y="1718469"/>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185208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TotalTime>
  <Words>806</Words>
  <Application>Microsoft Office PowerPoint</Application>
  <PresentationFormat>Widescreen</PresentationFormat>
  <Paragraphs>39</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Domestic Energy Consumption Trends</vt:lpstr>
      <vt:lpstr>Key Findings From the UK Electricity Consumption Data</vt:lpstr>
      <vt:lpstr>Explanation of Data Used </vt:lpstr>
      <vt:lpstr>PowerPoint Presentation</vt:lpstr>
      <vt:lpstr>PowerPoint Presentation</vt:lpstr>
      <vt:lpstr>PowerPoint Presentation</vt:lpstr>
      <vt:lpstr>PowerPoint Presentation</vt:lpstr>
      <vt:lpstr>Future Trends in Domestic Electricity Consumption</vt:lpstr>
      <vt:lpstr>Future Trends...</vt:lpstr>
      <vt:lpstr>Limitations of This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Maryam Pervez</cp:lastModifiedBy>
  <cp:revision>611</cp:revision>
  <dcterms:created xsi:type="dcterms:W3CDTF">2026-02-01T13:59:18Z</dcterms:created>
  <dcterms:modified xsi:type="dcterms:W3CDTF">2026-03-22T07:36:17Z</dcterms:modified>
</cp:coreProperties>
</file>